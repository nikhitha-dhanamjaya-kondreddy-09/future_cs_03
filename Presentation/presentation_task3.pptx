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TT Supermolot Neue Bold" charset="1" panose="02000803030000020004"/>
      <p:regular r:id="rId14"/>
    </p:embeddedFont>
    <p:embeddedFont>
      <p:font typeface="Canva Sans Bold" charset="1" panose="020B0803030501040103"/>
      <p:regular r:id="rId15"/>
    </p:embeddedFont>
    <p:embeddedFont>
      <p:font typeface="Eastman Grotesque" charset="1" panose="00000500000000000000"/>
      <p:regular r:id="rId16"/>
    </p:embeddedFont>
    <p:embeddedFont>
      <p:font typeface="Canva Sans" charset="1" panose="020B05030305010401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jpe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image2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-17402"/>
            <a:ext cx="18288000" cy="10431666"/>
          </a:xfrm>
          <a:custGeom>
            <a:avLst/>
            <a:gdLst/>
            <a:ahLst/>
            <a:cxnLst/>
            <a:rect r="r" b="b" t="t" l="l"/>
            <a:pathLst>
              <a:path h="10431666" w="18288000">
                <a:moveTo>
                  <a:pt x="0" y="0"/>
                </a:moveTo>
                <a:lnTo>
                  <a:pt x="18288000" y="0"/>
                </a:lnTo>
                <a:lnTo>
                  <a:pt x="18288000" y="10431666"/>
                </a:lnTo>
                <a:lnTo>
                  <a:pt x="0" y="104316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82532" y="578034"/>
            <a:ext cx="1911687" cy="1627413"/>
          </a:xfrm>
          <a:custGeom>
            <a:avLst/>
            <a:gdLst/>
            <a:ahLst/>
            <a:cxnLst/>
            <a:rect r="r" b="b" t="t" l="l"/>
            <a:pathLst>
              <a:path h="1627413" w="1911687">
                <a:moveTo>
                  <a:pt x="0" y="0"/>
                </a:moveTo>
                <a:lnTo>
                  <a:pt x="1911687" y="0"/>
                </a:lnTo>
                <a:lnTo>
                  <a:pt x="1911687" y="1627413"/>
                </a:lnTo>
                <a:lnTo>
                  <a:pt x="0" y="16274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2" t="0" r="-32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270024" y="3240596"/>
            <a:ext cx="10801217" cy="1902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13"/>
              </a:lnSpc>
            </a:pPr>
            <a:r>
              <a:rPr lang="en-US" sz="10008" b="tru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CYBER SECURITY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6548399" y="-3987441"/>
            <a:ext cx="9130941" cy="9130941"/>
          </a:xfrm>
          <a:custGeom>
            <a:avLst/>
            <a:gdLst/>
            <a:ahLst/>
            <a:cxnLst/>
            <a:rect r="r" b="b" t="t" l="l"/>
            <a:pathLst>
              <a:path h="9130941" w="9130941">
                <a:moveTo>
                  <a:pt x="0" y="0"/>
                </a:moveTo>
                <a:lnTo>
                  <a:pt x="9130941" y="0"/>
                </a:lnTo>
                <a:lnTo>
                  <a:pt x="9130941" y="9130941"/>
                </a:lnTo>
                <a:lnTo>
                  <a:pt x="0" y="91309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97989" y="6247086"/>
            <a:ext cx="8292932" cy="876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1"/>
              </a:lnSpc>
            </a:pPr>
            <a:r>
              <a:rPr lang="en-US" sz="9169" b="true">
                <a:solidFill>
                  <a:srgbClr val="00E8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TASK3_PPT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63414" y="2031106"/>
            <a:ext cx="6840199" cy="7731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1"/>
              </a:lnSpc>
            </a:pPr>
            <a:r>
              <a:rPr lang="en-US" sz="292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API SECURITY RISK ANALYSIS REPORT</a:t>
            </a:r>
          </a:p>
          <a:p>
            <a:pPr algn="ctr">
              <a:lnSpc>
                <a:spcPts val="4091"/>
              </a:lnSpc>
            </a:pPr>
          </a:p>
          <a:p>
            <a:pPr algn="ctr">
              <a:lnSpc>
                <a:spcPts val="4090"/>
              </a:lnSpc>
            </a:pPr>
            <a:r>
              <a:rPr lang="en-US" sz="292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Submitted by:</a:t>
            </a:r>
          </a:p>
          <a:p>
            <a:pPr algn="ctr">
              <a:lnSpc>
                <a:spcPts val="4091"/>
              </a:lnSpc>
            </a:pPr>
            <a:r>
              <a:rPr lang="en-US" sz="292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Nikhitha DhanamJaya Kondreddy </a:t>
            </a:r>
          </a:p>
          <a:p>
            <a:pPr algn="ctr">
              <a:lnSpc>
                <a:spcPts val="4091"/>
              </a:lnSpc>
            </a:pPr>
          </a:p>
          <a:p>
            <a:pPr algn="ctr">
              <a:lnSpc>
                <a:spcPts val="4091"/>
              </a:lnSpc>
            </a:pPr>
            <a:r>
              <a:rPr lang="en-US" sz="292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College:</a:t>
            </a:r>
          </a:p>
          <a:p>
            <a:pPr algn="ctr">
              <a:lnSpc>
                <a:spcPts val="4091"/>
              </a:lnSpc>
            </a:pPr>
            <a:r>
              <a:rPr lang="en-US" sz="292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Sri Vasavi Engineering College</a:t>
            </a:r>
          </a:p>
          <a:p>
            <a:pPr algn="ctr">
              <a:lnSpc>
                <a:spcPts val="4091"/>
              </a:lnSpc>
            </a:pPr>
          </a:p>
          <a:p>
            <a:pPr algn="ctr">
              <a:lnSpc>
                <a:spcPts val="4091"/>
              </a:lnSpc>
            </a:pPr>
            <a:r>
              <a:rPr lang="en-US" sz="292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Internship:</a:t>
            </a:r>
          </a:p>
          <a:p>
            <a:pPr algn="ctr">
              <a:lnSpc>
                <a:spcPts val="4091"/>
              </a:lnSpc>
            </a:pPr>
            <a:r>
              <a:rPr lang="en-US" sz="292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Interns – Cyber Security Internship</a:t>
            </a:r>
          </a:p>
          <a:p>
            <a:pPr algn="ctr">
              <a:lnSpc>
                <a:spcPts val="4091"/>
              </a:lnSpc>
            </a:pPr>
          </a:p>
          <a:p>
            <a:pPr algn="ctr">
              <a:lnSpc>
                <a:spcPts val="4091"/>
              </a:lnSpc>
            </a:pPr>
            <a:r>
              <a:rPr lang="en-US" sz="292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Repository:</a:t>
            </a:r>
          </a:p>
          <a:p>
            <a:pPr algn="ctr">
              <a:lnSpc>
                <a:spcPts val="4091"/>
              </a:lnSpc>
            </a:pPr>
            <a:r>
              <a:rPr lang="en-US" sz="292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FUTURE_CS_03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494219" y="197034"/>
            <a:ext cx="10801217" cy="1902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13"/>
              </a:lnSpc>
            </a:pPr>
            <a:r>
              <a:rPr lang="en-US" sz="10008" b="tru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FUTURE INTERNS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96474" y="3254816"/>
            <a:ext cx="6583061" cy="6583061"/>
          </a:xfrm>
          <a:custGeom>
            <a:avLst/>
            <a:gdLst/>
            <a:ahLst/>
            <a:cxnLst/>
            <a:rect r="r" b="b" t="t" l="l"/>
            <a:pathLst>
              <a:path h="6583061" w="6583061">
                <a:moveTo>
                  <a:pt x="0" y="0"/>
                </a:moveTo>
                <a:lnTo>
                  <a:pt x="6583061" y="0"/>
                </a:lnTo>
                <a:lnTo>
                  <a:pt x="6583061" y="6583061"/>
                </a:lnTo>
                <a:lnTo>
                  <a:pt x="0" y="65830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054300"/>
            <a:ext cx="18288000" cy="877529"/>
          </a:xfrm>
          <a:custGeom>
            <a:avLst/>
            <a:gdLst/>
            <a:ahLst/>
            <a:cxnLst/>
            <a:rect r="r" b="b" t="t" l="l"/>
            <a:pathLst>
              <a:path h="877529" w="18288000">
                <a:moveTo>
                  <a:pt x="0" y="0"/>
                </a:moveTo>
                <a:lnTo>
                  <a:pt x="18288000" y="0"/>
                </a:lnTo>
                <a:lnTo>
                  <a:pt x="18288000" y="877528"/>
                </a:lnTo>
                <a:lnTo>
                  <a:pt x="0" y="877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6924" y="784670"/>
            <a:ext cx="573310" cy="488051"/>
          </a:xfrm>
          <a:custGeom>
            <a:avLst/>
            <a:gdLst/>
            <a:ahLst/>
            <a:cxnLst/>
            <a:rect r="r" b="b" t="t" l="l"/>
            <a:pathLst>
              <a:path h="488051" w="573310">
                <a:moveTo>
                  <a:pt x="0" y="0"/>
                </a:moveTo>
                <a:lnTo>
                  <a:pt x="573310" y="0"/>
                </a:lnTo>
                <a:lnTo>
                  <a:pt x="573310" y="488051"/>
                </a:lnTo>
                <a:lnTo>
                  <a:pt x="0" y="4880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19839"/>
            <a:ext cx="5159531" cy="541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7"/>
              </a:lnSpc>
            </a:pPr>
            <a:r>
              <a:rPr lang="en-US" sz="5705" b="true">
                <a:solidFill>
                  <a:srgbClr val="00E8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INTRODUCTION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958730" y="4585649"/>
            <a:ext cx="7860478" cy="5252228"/>
            <a:chOff x="0" y="0"/>
            <a:chExt cx="10480637" cy="70029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80675" cy="7002907"/>
            </a:xfrm>
            <a:custGeom>
              <a:avLst/>
              <a:gdLst/>
              <a:ahLst/>
              <a:cxnLst/>
              <a:rect r="r" b="b" t="t" l="l"/>
              <a:pathLst>
                <a:path h="7002907" w="10480675">
                  <a:moveTo>
                    <a:pt x="0" y="0"/>
                  </a:moveTo>
                  <a:lnTo>
                    <a:pt x="10480675" y="0"/>
                  </a:lnTo>
                  <a:lnTo>
                    <a:pt x="10480675" y="7002907"/>
                  </a:lnTo>
                  <a:lnTo>
                    <a:pt x="0" y="7002907"/>
                  </a:lnTo>
                  <a:close/>
                </a:path>
              </a:pathLst>
            </a:custGeom>
            <a:blipFill>
              <a:blip r:embed="rId8"/>
              <a:stretch>
                <a:fillRect l="-9393" t="0" r="-9393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26115" y="5465883"/>
            <a:ext cx="7335479" cy="682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1"/>
              </a:lnSpc>
            </a:pPr>
            <a:r>
              <a:rPr lang="en-US" sz="7259" b="true">
                <a:solidFill>
                  <a:srgbClr val="00E8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OBJECTIVE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55390" y="5356612"/>
            <a:ext cx="573310" cy="488051"/>
          </a:xfrm>
          <a:custGeom>
            <a:avLst/>
            <a:gdLst/>
            <a:ahLst/>
            <a:cxnLst/>
            <a:rect r="r" b="b" t="t" l="l"/>
            <a:pathLst>
              <a:path h="488051" w="573310">
                <a:moveTo>
                  <a:pt x="0" y="0"/>
                </a:moveTo>
                <a:lnTo>
                  <a:pt x="573310" y="0"/>
                </a:lnTo>
                <a:lnTo>
                  <a:pt x="573310" y="488052"/>
                </a:lnTo>
                <a:lnTo>
                  <a:pt x="0" y="4880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26115" y="7425195"/>
            <a:ext cx="8254679" cy="183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73"/>
              </a:lnSpc>
            </a:pPr>
            <a:r>
              <a:rPr lang="en-US" sz="3036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• Test API endpoints using Postman</a:t>
            </a:r>
          </a:p>
          <a:p>
            <a:pPr algn="just">
              <a:lnSpc>
                <a:spcPts val="3673"/>
              </a:lnSpc>
            </a:pPr>
            <a:r>
              <a:rPr lang="en-US" sz="3036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• Analyze request and response data</a:t>
            </a:r>
          </a:p>
          <a:p>
            <a:pPr algn="just">
              <a:lnSpc>
                <a:spcPts val="3673"/>
              </a:lnSpc>
            </a:pPr>
            <a:r>
              <a:rPr lang="en-US" sz="3036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• Identify security risks in APIs</a:t>
            </a:r>
          </a:p>
          <a:p>
            <a:pPr algn="just">
              <a:lnSpc>
                <a:spcPts val="3673"/>
              </a:lnSpc>
            </a:pPr>
            <a:r>
              <a:rPr lang="en-US" sz="3036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• Understand API security concepts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627508"/>
            <a:ext cx="8973264" cy="2096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1"/>
              </a:lnSpc>
            </a:pP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• APIs are widely used for communication between applications.</a:t>
            </a:r>
          </a:p>
          <a:p>
            <a:pPr algn="l">
              <a:lnSpc>
                <a:spcPts val="5151"/>
              </a:lnSpc>
            </a:pP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• API security testing helps identify security weaknesses.</a:t>
            </a:r>
          </a:p>
          <a:p>
            <a:pPr algn="l">
              <a:lnSpc>
                <a:spcPts val="5151"/>
              </a:lnSpc>
            </a:pP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• Postman is used for API request and response analysis.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44666"/>
            <a:ext cx="484118" cy="7939678"/>
          </a:xfrm>
          <a:custGeom>
            <a:avLst/>
            <a:gdLst/>
            <a:ahLst/>
            <a:cxnLst/>
            <a:rect r="r" b="b" t="t" l="l"/>
            <a:pathLst>
              <a:path h="7939678" w="484118">
                <a:moveTo>
                  <a:pt x="0" y="0"/>
                </a:moveTo>
                <a:lnTo>
                  <a:pt x="484118" y="0"/>
                </a:lnTo>
                <a:lnTo>
                  <a:pt x="484118" y="7939678"/>
                </a:lnTo>
                <a:lnTo>
                  <a:pt x="0" y="79396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1141" y="5711581"/>
            <a:ext cx="8618744" cy="8618744"/>
          </a:xfrm>
          <a:custGeom>
            <a:avLst/>
            <a:gdLst/>
            <a:ahLst/>
            <a:cxnLst/>
            <a:rect r="r" b="b" t="t" l="l"/>
            <a:pathLst>
              <a:path h="8618744" w="8618744">
                <a:moveTo>
                  <a:pt x="0" y="0"/>
                </a:moveTo>
                <a:lnTo>
                  <a:pt x="8618744" y="0"/>
                </a:lnTo>
                <a:lnTo>
                  <a:pt x="8618744" y="8618743"/>
                </a:lnTo>
                <a:lnTo>
                  <a:pt x="0" y="86187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83073" y="1829734"/>
            <a:ext cx="4871028" cy="851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50"/>
              </a:lnSpc>
            </a:pPr>
            <a:r>
              <a:rPr lang="en-US" sz="4465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Tools Used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5899728" y="5874458"/>
            <a:ext cx="1218555" cy="1037341"/>
          </a:xfrm>
          <a:custGeom>
            <a:avLst/>
            <a:gdLst/>
            <a:ahLst/>
            <a:cxnLst/>
            <a:rect r="r" b="b" t="t" l="l"/>
            <a:pathLst>
              <a:path h="1037341" w="1218555">
                <a:moveTo>
                  <a:pt x="0" y="0"/>
                </a:moveTo>
                <a:lnTo>
                  <a:pt x="1218555" y="0"/>
                </a:lnTo>
                <a:lnTo>
                  <a:pt x="1218555" y="1037340"/>
                </a:lnTo>
                <a:lnTo>
                  <a:pt x="0" y="10373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51141" y="1473431"/>
            <a:ext cx="1418725" cy="1207743"/>
          </a:xfrm>
          <a:custGeom>
            <a:avLst/>
            <a:gdLst/>
            <a:ahLst/>
            <a:cxnLst/>
            <a:rect r="r" b="b" t="t" l="l"/>
            <a:pathLst>
              <a:path h="1207743" w="1418725">
                <a:moveTo>
                  <a:pt x="0" y="0"/>
                </a:moveTo>
                <a:lnTo>
                  <a:pt x="1418724" y="0"/>
                </a:lnTo>
                <a:lnTo>
                  <a:pt x="1418724" y="1207743"/>
                </a:lnTo>
                <a:lnTo>
                  <a:pt x="0" y="12077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899728" y="5936456"/>
            <a:ext cx="8908028" cy="837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5"/>
              </a:lnSpc>
            </a:pPr>
            <a:r>
              <a:rPr lang="en-US" sz="449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API Endpoint Testing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18283" y="7186441"/>
            <a:ext cx="7881156" cy="1112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0"/>
              </a:lnSpc>
            </a:pPr>
            <a:r>
              <a:rPr lang="en-US" sz="2608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1. https://jsonplaceholder.typicode.com/users</a:t>
            </a:r>
          </a:p>
          <a:p>
            <a:pPr algn="l">
              <a:lnSpc>
                <a:spcPts val="4120"/>
              </a:lnSpc>
            </a:pPr>
            <a:r>
              <a:rPr lang="en-US" sz="2608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2. https://jsonplaceholder.typicode.com/posts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68427" y="2959427"/>
            <a:ext cx="7881156" cy="1626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0"/>
              </a:lnSpc>
            </a:pPr>
            <a:r>
              <a:rPr lang="en-US" sz="2608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• Postman</a:t>
            </a:r>
          </a:p>
          <a:p>
            <a:pPr algn="l">
              <a:lnSpc>
                <a:spcPts val="4120"/>
              </a:lnSpc>
            </a:pPr>
            <a:r>
              <a:rPr lang="en-US" sz="2608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• JSONPlaceholder API</a:t>
            </a:r>
          </a:p>
          <a:p>
            <a:pPr algn="l">
              <a:lnSpc>
                <a:spcPts val="4120"/>
              </a:lnSpc>
            </a:pPr>
            <a:r>
              <a:rPr lang="en-US" sz="2608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• Windows Operating System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65266" y="-2317023"/>
            <a:ext cx="484118" cy="7939678"/>
          </a:xfrm>
          <a:custGeom>
            <a:avLst/>
            <a:gdLst/>
            <a:ahLst/>
            <a:cxnLst/>
            <a:rect r="r" b="b" t="t" l="l"/>
            <a:pathLst>
              <a:path h="7939678" w="484118">
                <a:moveTo>
                  <a:pt x="0" y="0"/>
                </a:moveTo>
                <a:lnTo>
                  <a:pt x="484117" y="0"/>
                </a:lnTo>
                <a:lnTo>
                  <a:pt x="484117" y="7939678"/>
                </a:lnTo>
                <a:lnTo>
                  <a:pt x="0" y="79396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243968" y="7301389"/>
            <a:ext cx="7657529" cy="7657528"/>
          </a:xfrm>
          <a:custGeom>
            <a:avLst/>
            <a:gdLst/>
            <a:ahLst/>
            <a:cxnLst/>
            <a:rect r="r" b="b" t="t" l="l"/>
            <a:pathLst>
              <a:path h="7657528" w="7657529">
                <a:moveTo>
                  <a:pt x="0" y="0"/>
                </a:moveTo>
                <a:lnTo>
                  <a:pt x="7657529" y="0"/>
                </a:lnTo>
                <a:lnTo>
                  <a:pt x="7657529" y="7657528"/>
                </a:lnTo>
                <a:lnTo>
                  <a:pt x="0" y="7657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2045" y="3515687"/>
            <a:ext cx="573310" cy="488051"/>
          </a:xfrm>
          <a:custGeom>
            <a:avLst/>
            <a:gdLst/>
            <a:ahLst/>
            <a:cxnLst/>
            <a:rect r="r" b="b" t="t" l="l"/>
            <a:pathLst>
              <a:path h="488051" w="573310">
                <a:moveTo>
                  <a:pt x="0" y="0"/>
                </a:moveTo>
                <a:lnTo>
                  <a:pt x="573310" y="0"/>
                </a:lnTo>
                <a:lnTo>
                  <a:pt x="573310" y="488051"/>
                </a:lnTo>
                <a:lnTo>
                  <a:pt x="0" y="4880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375210" y="1028700"/>
            <a:ext cx="7884090" cy="7991904"/>
            <a:chOff x="0" y="0"/>
            <a:chExt cx="10512120" cy="106558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12171" cy="10655808"/>
            </a:xfrm>
            <a:custGeom>
              <a:avLst/>
              <a:gdLst/>
              <a:ahLst/>
              <a:cxnLst/>
              <a:rect r="r" b="b" t="t" l="l"/>
              <a:pathLst>
                <a:path h="10655808" w="10512171">
                  <a:moveTo>
                    <a:pt x="0" y="0"/>
                  </a:moveTo>
                  <a:lnTo>
                    <a:pt x="10512171" y="0"/>
                  </a:lnTo>
                  <a:lnTo>
                    <a:pt x="10512171" y="10655808"/>
                  </a:lnTo>
                  <a:lnTo>
                    <a:pt x="0" y="10655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90278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467182" y="3264941"/>
            <a:ext cx="8908028" cy="837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5"/>
              </a:lnSpc>
            </a:pPr>
            <a:r>
              <a:rPr lang="en-US" sz="449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Response  Body Analysis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995166"/>
            <a:ext cx="6642383" cy="1953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5"/>
              </a:lnSpc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• JSON formatted data received</a:t>
            </a:r>
          </a:p>
          <a:p>
            <a:pPr algn="l">
              <a:lnSpc>
                <a:spcPts val="4835"/>
              </a:lnSpc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• User information successfully retrieved</a:t>
            </a:r>
          </a:p>
          <a:p>
            <a:pPr algn="l">
              <a:lnSpc>
                <a:spcPts val="4835"/>
              </a:lnSpc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• API communication verified successfully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486896" y="-1993478"/>
            <a:ext cx="6583061" cy="6583061"/>
          </a:xfrm>
          <a:custGeom>
            <a:avLst/>
            <a:gdLst/>
            <a:ahLst/>
            <a:cxnLst/>
            <a:rect r="r" b="b" t="t" l="l"/>
            <a:pathLst>
              <a:path h="6583061" w="6583061">
                <a:moveTo>
                  <a:pt x="0" y="0"/>
                </a:moveTo>
                <a:lnTo>
                  <a:pt x="6583061" y="0"/>
                </a:lnTo>
                <a:lnTo>
                  <a:pt x="6583061" y="6583061"/>
                </a:lnTo>
                <a:lnTo>
                  <a:pt x="0" y="65830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99700" y="-1310469"/>
            <a:ext cx="11869655" cy="1851117"/>
          </a:xfrm>
          <a:custGeom>
            <a:avLst/>
            <a:gdLst/>
            <a:ahLst/>
            <a:cxnLst/>
            <a:rect r="r" b="b" t="t" l="l"/>
            <a:pathLst>
              <a:path h="1851117" w="11869655">
                <a:moveTo>
                  <a:pt x="0" y="0"/>
                </a:moveTo>
                <a:lnTo>
                  <a:pt x="11869655" y="0"/>
                </a:lnTo>
                <a:lnTo>
                  <a:pt x="11869655" y="1851118"/>
                </a:lnTo>
                <a:lnTo>
                  <a:pt x="0" y="18511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440100"/>
            <a:ext cx="484118" cy="6526501"/>
          </a:xfrm>
          <a:custGeom>
            <a:avLst/>
            <a:gdLst/>
            <a:ahLst/>
            <a:cxnLst/>
            <a:rect r="r" b="b" t="t" l="l"/>
            <a:pathLst>
              <a:path h="6526501" w="484118">
                <a:moveTo>
                  <a:pt x="0" y="0"/>
                </a:moveTo>
                <a:lnTo>
                  <a:pt x="484118" y="0"/>
                </a:lnTo>
                <a:lnTo>
                  <a:pt x="484118" y="6526502"/>
                </a:lnTo>
                <a:lnTo>
                  <a:pt x="0" y="65265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653097" y="1964360"/>
            <a:ext cx="10125334" cy="7491346"/>
            <a:chOff x="0" y="0"/>
            <a:chExt cx="13500445" cy="99884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500471" cy="9988423"/>
            </a:xfrm>
            <a:custGeom>
              <a:avLst/>
              <a:gdLst/>
              <a:ahLst/>
              <a:cxnLst/>
              <a:rect r="r" b="b" t="t" l="l"/>
              <a:pathLst>
                <a:path h="9988423" w="13500471">
                  <a:moveTo>
                    <a:pt x="0" y="0"/>
                  </a:moveTo>
                  <a:lnTo>
                    <a:pt x="13500471" y="0"/>
                  </a:lnTo>
                  <a:lnTo>
                    <a:pt x="13500471" y="9988423"/>
                  </a:lnTo>
                  <a:lnTo>
                    <a:pt x="0" y="9988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3894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0" y="460915"/>
            <a:ext cx="8908028" cy="837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5"/>
              </a:lnSpc>
            </a:pPr>
            <a:r>
              <a:rPr lang="en-US" sz="449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Headers &amp; Status Code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06924" y="784670"/>
            <a:ext cx="573310" cy="488051"/>
          </a:xfrm>
          <a:custGeom>
            <a:avLst/>
            <a:gdLst/>
            <a:ahLst/>
            <a:cxnLst/>
            <a:rect r="r" b="b" t="t" l="l"/>
            <a:pathLst>
              <a:path h="488051" w="573310">
                <a:moveTo>
                  <a:pt x="0" y="0"/>
                </a:moveTo>
                <a:lnTo>
                  <a:pt x="573310" y="0"/>
                </a:lnTo>
                <a:lnTo>
                  <a:pt x="573310" y="488051"/>
                </a:lnTo>
                <a:lnTo>
                  <a:pt x="0" y="4880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59453" y="1621460"/>
            <a:ext cx="7648575" cy="1953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5"/>
              </a:lnSpc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• HTTP Status Code: 200 OK</a:t>
            </a:r>
          </a:p>
          <a:p>
            <a:pPr algn="l">
              <a:lnSpc>
                <a:spcPts val="4835"/>
              </a:lnSpc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• Response headers analyzed</a:t>
            </a:r>
          </a:p>
          <a:p>
            <a:pPr algn="l">
              <a:lnSpc>
                <a:spcPts val="4835"/>
              </a:lnSpc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• Content-Type and server information observed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6907" y="863746"/>
            <a:ext cx="7894583" cy="7919323"/>
            <a:chOff x="0" y="0"/>
            <a:chExt cx="10526110" cy="105590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26110" cy="10559161"/>
            </a:xfrm>
            <a:custGeom>
              <a:avLst/>
              <a:gdLst/>
              <a:ahLst/>
              <a:cxnLst/>
              <a:rect r="r" b="b" t="t" l="l"/>
              <a:pathLst>
                <a:path h="10559161" w="10526110">
                  <a:moveTo>
                    <a:pt x="0" y="0"/>
                  </a:moveTo>
                  <a:lnTo>
                    <a:pt x="10526110" y="0"/>
                  </a:lnTo>
                  <a:lnTo>
                    <a:pt x="10526110" y="10559161"/>
                  </a:lnTo>
                  <a:lnTo>
                    <a:pt x="0" y="10559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8882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742566" y="1028700"/>
            <a:ext cx="9545434" cy="7754369"/>
            <a:chOff x="0" y="0"/>
            <a:chExt cx="12727245" cy="103391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727231" cy="10339197"/>
            </a:xfrm>
            <a:custGeom>
              <a:avLst/>
              <a:gdLst/>
              <a:ahLst/>
              <a:cxnLst/>
              <a:rect r="r" b="b" t="t" l="l"/>
              <a:pathLst>
                <a:path h="10339197" w="12727231">
                  <a:moveTo>
                    <a:pt x="0" y="0"/>
                  </a:moveTo>
                  <a:lnTo>
                    <a:pt x="12727231" y="0"/>
                  </a:lnTo>
                  <a:lnTo>
                    <a:pt x="12727231" y="10339197"/>
                  </a:lnTo>
                  <a:lnTo>
                    <a:pt x="0" y="103391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627" r="-70528" b="-5627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6924" y="784670"/>
            <a:ext cx="573310" cy="488051"/>
          </a:xfrm>
          <a:custGeom>
            <a:avLst/>
            <a:gdLst/>
            <a:ahLst/>
            <a:cxnLst/>
            <a:rect r="r" b="b" t="t" l="l"/>
            <a:pathLst>
              <a:path h="488051" w="573310">
                <a:moveTo>
                  <a:pt x="0" y="0"/>
                </a:moveTo>
                <a:lnTo>
                  <a:pt x="573310" y="0"/>
                </a:lnTo>
                <a:lnTo>
                  <a:pt x="573310" y="488051"/>
                </a:lnTo>
                <a:lnTo>
                  <a:pt x="0" y="4880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572029"/>
            <a:ext cx="8908028" cy="837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5"/>
              </a:lnSpc>
            </a:pPr>
            <a:r>
              <a:rPr lang="en-US" sz="449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Security Risks Identified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59453" y="1621460"/>
            <a:ext cx="4109199" cy="256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5"/>
              </a:lnSpc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• Missing Authentication</a:t>
            </a:r>
          </a:p>
          <a:p>
            <a:pPr algn="l">
              <a:lnSpc>
                <a:spcPts val="4835"/>
              </a:lnSpc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• Excessive Data Exposure</a:t>
            </a:r>
          </a:p>
          <a:p>
            <a:pPr algn="l">
              <a:lnSpc>
                <a:spcPts val="4835"/>
              </a:lnSpc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• Missing Rate Limiting</a:t>
            </a:r>
          </a:p>
          <a:p>
            <a:pPr algn="l">
              <a:lnSpc>
                <a:spcPts val="4835"/>
              </a:lnSpc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• Public API Accessibility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593579" y="4899470"/>
            <a:ext cx="573310" cy="488051"/>
          </a:xfrm>
          <a:custGeom>
            <a:avLst/>
            <a:gdLst/>
            <a:ahLst/>
            <a:cxnLst/>
            <a:rect r="r" b="b" t="t" l="l"/>
            <a:pathLst>
              <a:path h="488051" w="573310">
                <a:moveTo>
                  <a:pt x="0" y="0"/>
                </a:moveTo>
                <a:lnTo>
                  <a:pt x="573310" y="0"/>
                </a:lnTo>
                <a:lnTo>
                  <a:pt x="573310" y="488051"/>
                </a:lnTo>
                <a:lnTo>
                  <a:pt x="0" y="4880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59453" y="4947047"/>
            <a:ext cx="6019124" cy="44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6"/>
              </a:lnSpc>
            </a:pPr>
            <a:r>
              <a:rPr lang="en-US" sz="4536" b="true">
                <a:solidFill>
                  <a:srgbClr val="00E8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RECOMMENDATIONS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9453" y="5902395"/>
            <a:ext cx="9935232" cy="2580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47"/>
              </a:lnSpc>
            </a:pPr>
            <a:r>
              <a:rPr lang="en-US" sz="2099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• Implement API authentication mechanisms</a:t>
            </a:r>
          </a:p>
          <a:p>
            <a:pPr algn="just">
              <a:lnSpc>
                <a:spcPts val="3947"/>
              </a:lnSpc>
            </a:pPr>
            <a:r>
              <a:rPr lang="en-US" sz="2099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• Apply rate limiting for API requests</a:t>
            </a:r>
          </a:p>
          <a:p>
            <a:pPr algn="just">
              <a:lnSpc>
                <a:spcPts val="3947"/>
              </a:lnSpc>
            </a:pPr>
            <a:r>
              <a:rPr lang="en-US" sz="2099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• Restrict unnecessary data exposure</a:t>
            </a:r>
          </a:p>
          <a:p>
            <a:pPr algn="just">
              <a:lnSpc>
                <a:spcPts val="3947"/>
              </a:lnSpc>
            </a:pPr>
            <a:r>
              <a:rPr lang="en-US" sz="2099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• Use proper API security headers</a:t>
            </a:r>
          </a:p>
          <a:p>
            <a:pPr algn="just">
              <a:lnSpc>
                <a:spcPts val="3947"/>
              </a:lnSpc>
            </a:pPr>
            <a:r>
              <a:rPr lang="en-US" sz="2099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• Monitor API activity regularly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91370" y="3902126"/>
            <a:ext cx="573310" cy="488051"/>
          </a:xfrm>
          <a:custGeom>
            <a:avLst/>
            <a:gdLst/>
            <a:ahLst/>
            <a:cxnLst/>
            <a:rect r="r" b="b" t="t" l="l"/>
            <a:pathLst>
              <a:path h="488051" w="573310">
                <a:moveTo>
                  <a:pt x="0" y="0"/>
                </a:moveTo>
                <a:lnTo>
                  <a:pt x="573310" y="0"/>
                </a:lnTo>
                <a:lnTo>
                  <a:pt x="573310" y="488051"/>
                </a:lnTo>
                <a:lnTo>
                  <a:pt x="0" y="4880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48049" y="4006863"/>
            <a:ext cx="7769171" cy="583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1"/>
              </a:lnSpc>
            </a:pPr>
            <a:r>
              <a:rPr lang="en-US" sz="5855" b="true">
                <a:solidFill>
                  <a:srgbClr val="00E8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91370" y="4950304"/>
            <a:ext cx="11376460" cy="1817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20"/>
              </a:lnSpc>
            </a:pPr>
            <a:r>
              <a:rPr lang="en-US" sz="2403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This project provided practical exposure to API security testing and risk analysis using Postman. The analysis helped in understanding API request handling, response monitoring, and common API security risks.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DAHLMkOCeVk</dc:identifier>
  <dcterms:modified xsi:type="dcterms:W3CDTF">2011-08-01T06:04:30Z</dcterms:modified>
  <cp:revision>1</cp:revision>
  <dc:title>DOC-20260530-WA0057..pptx</dc:title>
</cp:coreProperties>
</file>